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sldIdLst>
    <p:sldId id="291" r:id="rId2"/>
    <p:sldId id="281" r:id="rId3"/>
    <p:sldId id="298" r:id="rId4"/>
    <p:sldId id="290" r:id="rId5"/>
    <p:sldId id="293" r:id="rId6"/>
    <p:sldId id="304" r:id="rId7"/>
    <p:sldId id="294" r:id="rId8"/>
    <p:sldId id="299" r:id="rId9"/>
    <p:sldId id="300" r:id="rId10"/>
    <p:sldId id="301" r:id="rId11"/>
    <p:sldId id="296" r:id="rId12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DE4A9-6531-8780-B347-58F95D778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39DED10D-A1EB-2313-03FD-D732A434F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9947420A-C68B-9B83-C59C-74519AE2ED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B6C061D7-9DA1-7E50-B2D6-1A5EC5FB1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27731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393371" y="81376"/>
            <a:ext cx="7601437" cy="87707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ARTEMIS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561696"/>
            <a:ext cx="1119212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</a:t>
            </a:r>
            <a:r>
              <a:rPr lang="en-US" sz="2400" dirty="0"/>
              <a:t>Affordable and interactive Braille learning tools are limited, making independent education difficult for visually impaired students.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CURIOSITY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3057" y="203043"/>
            <a:ext cx="1303845" cy="11125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6451600" cy="954578"/>
          </a:xfrm>
        </p:spPr>
        <p:txBody>
          <a:bodyPr/>
          <a:lstStyle/>
          <a:p>
            <a:pPr eaLnBrk="1" hangingPunct="1"/>
            <a:r>
              <a:rPr lang="en-US" sz="3600" b="1" dirty="0"/>
              <a:t>PROBLEM STATEMENT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1021202"/>
            <a:ext cx="11287433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Describe the problem clearly:</a:t>
            </a:r>
            <a:br>
              <a:rPr lang="en-US" sz="2800" dirty="0"/>
            </a:br>
            <a:r>
              <a:rPr lang="en-US" sz="2800" dirty="0"/>
              <a:t>Affordable and interactive Braille learning tools are limited while most existing devices are expensive and require supervision.</a:t>
            </a:r>
          </a:p>
          <a:p>
            <a:r>
              <a:rPr lang="en-US" sz="2800" b="1" dirty="0"/>
              <a:t>Who faces this problem?</a:t>
            </a:r>
            <a:br>
              <a:rPr lang="en-US" sz="2800" dirty="0"/>
            </a:br>
            <a:r>
              <a:rPr lang="en-US" sz="2800" dirty="0"/>
              <a:t>Visually impaired students, low-income families and resource-limited special schools.</a:t>
            </a:r>
          </a:p>
          <a:p>
            <a:r>
              <a:rPr lang="en-US" sz="2800" b="1" dirty="0"/>
              <a:t>Current challenges:</a:t>
            </a:r>
            <a:br>
              <a:rPr lang="en-US" sz="2800" dirty="0"/>
            </a:br>
            <a:r>
              <a:rPr lang="en-US" sz="2800" dirty="0"/>
              <a:t>High cost of assistive devices, lack of independent practice tools and dependence on trained instructors.</a:t>
            </a:r>
          </a:p>
          <a:p>
            <a:r>
              <a:rPr lang="en-US" sz="2800" b="1" dirty="0"/>
              <a:t>Real-world relevance:</a:t>
            </a:r>
            <a:br>
              <a:rPr lang="en-US" sz="2800" dirty="0"/>
            </a:br>
            <a:r>
              <a:rPr lang="en-US" sz="2800" dirty="0"/>
              <a:t>Improving access to affordable and interactive Braille education promotes inclusive learning and student independence.</a:t>
            </a:r>
          </a:p>
          <a:p>
            <a:pPr>
              <a:buFont typeface="Wingdings" pitchFamily="2" charset="2"/>
              <a:buChar char="Ø"/>
            </a:pPr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267879" y="675640"/>
            <a:ext cx="7827984" cy="954578"/>
          </a:xfrm>
        </p:spPr>
        <p:txBody>
          <a:bodyPr/>
          <a:lstStyle/>
          <a:p>
            <a:pPr eaLnBrk="1" hangingPunct="1"/>
            <a:r>
              <a:rPr lang="en-US" sz="3600" b="1" dirty="0"/>
              <a:t>PROPOSED SOLUTION </a:t>
            </a:r>
            <a:br>
              <a:rPr lang="en-US" sz="3600" b="1" dirty="0"/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720131" y="1504865"/>
            <a:ext cx="10862269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/>
              <a:t>Your Concept:</a:t>
            </a:r>
            <a:br>
              <a:rPr lang="en-US" sz="2400" dirty="0"/>
            </a:br>
            <a:r>
              <a:rPr lang="en-US" sz="2400" b="1" dirty="0"/>
              <a:t>Divya Drishti </a:t>
            </a:r>
            <a:r>
              <a:rPr lang="en-US" sz="2400" dirty="0"/>
              <a:t>is a low-cost, multi-sensory Braille learning device that combines tactile feedback and audio guidance to help visually impaired students learn independently.</a:t>
            </a:r>
          </a:p>
          <a:p>
            <a:endParaRPr lang="en-US" sz="2400" dirty="0"/>
          </a:p>
          <a:p>
            <a:r>
              <a:rPr lang="en-US" sz="2400" b="1" dirty="0"/>
              <a:t>How It Works (High Level):</a:t>
            </a:r>
            <a:br>
              <a:rPr lang="en-US" sz="2400" dirty="0"/>
            </a:br>
            <a:r>
              <a:rPr lang="en-US" sz="2400" dirty="0"/>
              <a:t>The user selects a letter using a rotary encoder, the ESP32 controller activates specific servo motors to form the corresponding Braille pattern and the system simultaneously plays the letter’s audio through a speaker.</a:t>
            </a:r>
          </a:p>
          <a:p>
            <a:endParaRPr lang="en-US" sz="2400" dirty="0"/>
          </a:p>
          <a:p>
            <a:r>
              <a:rPr lang="en-US" sz="2400" b="1" dirty="0"/>
              <a:t>Main Features:</a:t>
            </a:r>
            <a:br>
              <a:rPr lang="en-US" sz="2400" dirty="0"/>
            </a:br>
            <a:r>
              <a:rPr lang="en-US" sz="2400" dirty="0"/>
              <a:t>Servo-actuated Braille dots, synchronized audio feedback, compact design and affordable cost under ₹5,000.</a:t>
            </a:r>
          </a:p>
          <a:p>
            <a:endParaRPr lang="en-US" sz="3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4" name="Picture 13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5863" y="203044"/>
            <a:ext cx="1271040" cy="1084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135157" y="-32657"/>
            <a:ext cx="671182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0A77725-E389-FDD8-F424-E7CF1508B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5FD422-D4FB-3366-E1AE-FB58A0715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02996-5D3D-BF3B-0531-A2539DD70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04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0D4229-C82D-94D0-30D9-AE7B22E3C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169AA2B-B2B5-48BA-E8DE-8D77047BB6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2046" y="1248450"/>
            <a:ext cx="8904857" cy="49471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59236" y="79310"/>
            <a:ext cx="751316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91612" y="1428473"/>
            <a:ext cx="11326761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Analysis of the Feasibility of the Idea:</a:t>
            </a:r>
            <a:br>
              <a:rPr lang="en-US" sz="2800" dirty="0"/>
            </a:br>
            <a:r>
              <a:rPr lang="en-US" sz="2800" dirty="0"/>
              <a:t>The project uses low-cost, easily available components like ESP32 and servo motors, making it technically feasible and affordable to manufacture.</a:t>
            </a:r>
          </a:p>
          <a:p>
            <a:r>
              <a:rPr lang="en-US" sz="2800" b="1" dirty="0"/>
              <a:t>Potential Challenges and Risks:</a:t>
            </a:r>
            <a:br>
              <a:rPr lang="en-US" sz="2800" dirty="0"/>
            </a:br>
            <a:r>
              <a:rPr lang="en-US" sz="2800" dirty="0"/>
              <a:t>Mechanical wear of servo motors, durability of moving Braille pins, limited scalability and ensuring accurate tactile feedback.</a:t>
            </a:r>
          </a:p>
          <a:p>
            <a:r>
              <a:rPr lang="en-US" sz="2800" b="1" dirty="0"/>
              <a:t>Strategies for Overcoming These Challenges:</a:t>
            </a:r>
            <a:br>
              <a:rPr lang="en-US" sz="2800" dirty="0"/>
            </a:br>
            <a:r>
              <a:rPr lang="en-US" sz="2800" dirty="0"/>
              <a:t>Use high-quality servos, durable pin materials, modular design for easy maintenance, thorough testing and future integration of wireless updates for scalability.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E17E1-7A1E-F868-380A-10ED445E6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0C0213-8847-03F9-A5F6-85EB15A2E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F1677096-EFE9-C740-9E9C-53EBABFA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581" y="178946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CHALLENGES AND RISKS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B026D1C0-9CC9-F95D-A255-FF81FAAFD7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099" y="1346043"/>
            <a:ext cx="11618572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Mechanical failure of servo motors over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Wear and tear of moving Braille pins.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Power consumption and battery limitations.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Need for regular maintenance of the moving parts and actuators 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B59F5-5A24-78FC-0C46-E625D10C0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>
            <a:extLst>
              <a:ext uri="{FF2B5EF4-FFF2-40B4-BE49-F238E27FC236}">
                <a16:creationId xmlns:a16="http://schemas.microsoft.com/office/drawing/2014/main" id="{8E11EB01-A56B-0F03-1F69-88BF35449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C1AAC6-856D-AC2B-BD24-15C0322FA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518" y="-84236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>
            <a:extLst>
              <a:ext uri="{FF2B5EF4-FFF2-40B4-BE49-F238E27FC236}">
                <a16:creationId xmlns:a16="http://schemas.microsoft.com/office/drawing/2014/main" id="{F9E9315F-D591-AB80-8564-7BF79BB695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559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26025" y="1377364"/>
            <a:ext cx="11139948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Potential Impact on the Target Audience:</a:t>
            </a:r>
            <a:br>
              <a:rPr lang="en-US" sz="2800" dirty="0"/>
            </a:br>
            <a:r>
              <a:rPr lang="en-US" sz="2800" dirty="0"/>
              <a:t>Improves independent Braille learning, boosts confidence among visually impaired students and increases access to affordable assistive education tools.</a:t>
            </a:r>
          </a:p>
          <a:p>
            <a:r>
              <a:rPr lang="en-US" sz="2800" b="1" dirty="0"/>
              <a:t>Benefits of the Solution:</a:t>
            </a:r>
            <a:br>
              <a:rPr lang="en-US" sz="2800" dirty="0"/>
            </a:br>
            <a:r>
              <a:rPr lang="en-US" sz="2800" dirty="0"/>
              <a:t>Social — Promotes inclusive education and equal learning opportunities.</a:t>
            </a:r>
            <a:br>
              <a:rPr lang="en-US" sz="2800" dirty="0"/>
            </a:br>
            <a:r>
              <a:rPr lang="en-US" sz="2800" dirty="0"/>
              <a:t>Economic — Affordable compared to existing commercial devices, reducing financial burden on families and schools.</a:t>
            </a:r>
            <a:br>
              <a:rPr lang="en-US" sz="2800" dirty="0"/>
            </a:br>
            <a:r>
              <a:rPr lang="en-US" sz="2800" dirty="0"/>
              <a:t>Educational — Enables self-paced, interactive learning.</a:t>
            </a:r>
            <a:br>
              <a:rPr lang="en-US" sz="2800" dirty="0"/>
            </a:br>
            <a:r>
              <a:rPr lang="en-US" sz="2800" dirty="0"/>
              <a:t>Environmental — Low power consumption and compact design reduce material and energy usage.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TARGET USERS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98327" y="796892"/>
            <a:ext cx="11482163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br>
              <a:rPr lang="en-US" sz="2800" dirty="0"/>
            </a:br>
            <a:r>
              <a:rPr lang="en-US" sz="2800" dirty="0"/>
              <a:t>Blind primary school students learning basic Braille alphabets</a:t>
            </a:r>
          </a:p>
          <a:p>
            <a:endParaRPr lang="en-US" sz="2800" dirty="0"/>
          </a:p>
          <a:p>
            <a:r>
              <a:rPr lang="en-US" sz="2800" dirty="0"/>
              <a:t>Visually impaired students in special education schools</a:t>
            </a:r>
          </a:p>
          <a:p>
            <a:endParaRPr lang="en-US" sz="2800" dirty="0"/>
          </a:p>
          <a:p>
            <a:r>
              <a:rPr lang="en-US" sz="2800" dirty="0"/>
              <a:t>Students in rural areas with limited access to assistive technology</a:t>
            </a:r>
          </a:p>
          <a:p>
            <a:endParaRPr lang="en-US" sz="2800" dirty="0"/>
          </a:p>
          <a:p>
            <a:r>
              <a:rPr lang="en-US" sz="2800" dirty="0"/>
              <a:t>Children from low-income families who can’t afford expensive Braille devices</a:t>
            </a:r>
          </a:p>
          <a:p>
            <a:endParaRPr lang="en-US" sz="2800" dirty="0"/>
          </a:p>
          <a:p>
            <a:r>
              <a:rPr lang="en-US" sz="2800" dirty="0"/>
              <a:t>Newly visually impaired learners starting Braille education</a:t>
            </a:r>
          </a:p>
          <a:p>
            <a:endParaRPr lang="en-US" sz="2800" dirty="0"/>
          </a:p>
          <a:p>
            <a:r>
              <a:rPr lang="en-US" sz="2800" dirty="0"/>
              <a:t>NGOs and rehabilitation centers training blind students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FUTURE SCOPE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758A5E-47BD-8A97-56AB-2261A45D8271}"/>
              </a:ext>
            </a:extLst>
          </p:cNvPr>
          <p:cNvSpPr txBox="1"/>
          <p:nvPr/>
        </p:nvSpPr>
        <p:spPr>
          <a:xfrm>
            <a:off x="1238073" y="843059"/>
            <a:ext cx="970492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sz="2800" dirty="0"/>
              <a:t>Integration with mobile app for progress tracking</a:t>
            </a:r>
          </a:p>
          <a:p>
            <a:endParaRPr lang="en-US" sz="2800" dirty="0"/>
          </a:p>
          <a:p>
            <a:r>
              <a:rPr lang="en-US" sz="2800" dirty="0"/>
              <a:t>Addition of advanced Braille (words, sentences, contractions)</a:t>
            </a:r>
          </a:p>
          <a:p>
            <a:endParaRPr lang="en-US" sz="2800" dirty="0"/>
          </a:p>
          <a:p>
            <a:r>
              <a:rPr lang="en-US" sz="2800" dirty="0"/>
              <a:t>Multi-language audio support</a:t>
            </a:r>
          </a:p>
          <a:p>
            <a:endParaRPr lang="en-US" sz="2800" dirty="0"/>
          </a:p>
          <a:p>
            <a:r>
              <a:rPr lang="en-US" sz="2800" dirty="0"/>
              <a:t>AI-based adaptive learning modes</a:t>
            </a:r>
          </a:p>
          <a:p>
            <a:endParaRPr lang="en-US" sz="2800" dirty="0"/>
          </a:p>
          <a:p>
            <a:r>
              <a:rPr lang="en-US" sz="2800" dirty="0"/>
              <a:t>Cloud data storage for teacher monitoring (future upgrade)</a:t>
            </a:r>
          </a:p>
          <a:p>
            <a:endParaRPr lang="en-US" sz="2800" dirty="0"/>
          </a:p>
          <a:p>
            <a:r>
              <a:rPr lang="en-US" sz="2800" dirty="0"/>
              <a:t>Integration with school inclusive education programs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49006" y="-47625"/>
            <a:ext cx="8745894" cy="1143000"/>
          </a:xfrm>
        </p:spPr>
        <p:txBody>
          <a:bodyPr/>
          <a:lstStyle/>
          <a:p>
            <a:pPr eaLnBrk="1" hangingPunct="1"/>
            <a:r>
              <a:rPr lang="en-US" sz="3600" b="1" dirty="0"/>
              <a:t>BUSINESS MODEL / PROFIT STRATEGY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01044" y="870214"/>
            <a:ext cx="11618572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b="1" dirty="0"/>
              <a:t>Business Model:</a:t>
            </a:r>
            <a:br>
              <a:rPr lang="en-US" sz="2800" dirty="0"/>
            </a:br>
            <a:r>
              <a:rPr lang="en-US" sz="2800" dirty="0"/>
              <a:t>Direct sales to schools, special education centers, NGOs and individual families.</a:t>
            </a:r>
            <a:br>
              <a:rPr lang="en-US" sz="2800" dirty="0"/>
            </a:br>
            <a:r>
              <a:rPr lang="en-US" sz="2800" dirty="0"/>
              <a:t>Partnerships with government inclusive education programs.</a:t>
            </a:r>
            <a:br>
              <a:rPr lang="en-US" sz="2800" dirty="0"/>
            </a:br>
            <a:r>
              <a:rPr lang="en-US" sz="2800" dirty="0"/>
              <a:t>Bulk supply to rehabilitation institutes.</a:t>
            </a:r>
          </a:p>
          <a:p>
            <a:r>
              <a:rPr lang="en-US" sz="2800" b="1" dirty="0"/>
              <a:t>Profit Strategy:</a:t>
            </a:r>
            <a:br>
              <a:rPr lang="en-US" sz="2800" dirty="0"/>
            </a:br>
            <a:r>
              <a:rPr lang="en-US" sz="2800" dirty="0"/>
              <a:t>Low production cost with reasonable margin per unit.</a:t>
            </a:r>
            <a:br>
              <a:rPr lang="en-US" sz="2800" dirty="0"/>
            </a:br>
            <a:r>
              <a:rPr lang="en-US" sz="2800" dirty="0"/>
              <a:t>Bulk order discounts with volume-based profit.</a:t>
            </a:r>
            <a:br>
              <a:rPr lang="en-US" sz="2800" dirty="0"/>
            </a:br>
            <a:r>
              <a:rPr lang="en-US" sz="2800" dirty="0"/>
              <a:t>After-sales service and maintenance packages.</a:t>
            </a:r>
            <a:br>
              <a:rPr lang="en-US" sz="2800" dirty="0"/>
            </a:br>
            <a:r>
              <a:rPr lang="en-US" sz="2800" dirty="0"/>
              <a:t>Future revenue through software/app upgrades and premium learning modules.</a:t>
            </a:r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9" name="Picture 8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437951" y="-47625"/>
            <a:ext cx="7299649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671878"/>
            <a:ext cx="93853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of the reference and research work</a:t>
            </a: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lang="en-US" sz="2800" noProof="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Springer / Academic Research Related to Braille Systems</a:t>
            </a:r>
            <a:r>
              <a:rPr lang="en-US" sz="1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1600" b="1" dirty="0"/>
              <a:t> Electronic Device for Learning Braille Reading/Writing System (Springer)</a:t>
            </a:r>
            <a:r>
              <a:rPr lang="en-US" sz="1600" dirty="0"/>
              <a:t> – Describes an electronic Braille learning prototype using open-source hardware with raised tactile points recognizable by touch, supporting autonomous learning 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1600" b="0" i="0" u="none" strike="noStrike" kern="1200" cap="none" spc="0" normalizeH="0" baseline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IN" sz="1600" b="1" dirty="0"/>
              <a:t>Refreshable Braille Display using Solenoids and Microcontroller</a:t>
            </a:r>
            <a:r>
              <a:rPr lang="en-IN" sz="1600" dirty="0"/>
              <a:t> – A prototype for a refreshable Braille display using solenoid actuators and Arduino-based control, offering context on alternative actuator solutions.</a:t>
            </a:r>
            <a:endParaRPr lang="en-US" sz="16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1600" b="1" dirty="0"/>
              <a:t>Low-Cost Refreshable Braille Display Design &amp; Development</a:t>
            </a:r>
            <a:r>
              <a:rPr lang="en-US" sz="1600" dirty="0"/>
              <a:t> – Presents a system using electromagnetic actuators and microcontroller control, focused on cost reduction in tactile interfaces.</a:t>
            </a:r>
            <a:endParaRPr lang="en-IN" sz="16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 descr="eatm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4" y="81376"/>
            <a:ext cx="1095495" cy="10289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903" y="14293"/>
            <a:ext cx="1674456" cy="1674456"/>
          </a:xfrm>
          <a:prstGeom prst="rect">
            <a:avLst/>
          </a:prstGeom>
        </p:spPr>
      </p:pic>
      <p:pic>
        <p:nvPicPr>
          <p:cNvPr id="13" name="Picture 12" descr="EFusion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405" y="203043"/>
            <a:ext cx="1194498" cy="101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7642</TotalTime>
  <Words>733</Words>
  <Application>Microsoft Office PowerPoint</Application>
  <PresentationFormat>Widescreen</PresentationFormat>
  <Paragraphs>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ARTEMIS HACKATHON 2026</vt:lpstr>
      <vt:lpstr>PROBLEM STATEMENT</vt:lpstr>
      <vt:lpstr>PROPOSED SOLUTION  </vt:lpstr>
      <vt:lpstr>TECHNICAL APPROACH</vt:lpstr>
      <vt:lpstr>FEASIBILITY AND VIABILITY</vt:lpstr>
      <vt:lpstr>CHALLENGES AND RISKS</vt:lpstr>
      <vt:lpstr>IMPACT AND BENEFITS</vt:lpstr>
      <vt:lpstr>TARGET USERS</vt:lpstr>
      <vt:lpstr>FUTURE SCOPE</vt:lpstr>
      <vt:lpstr>BUSINESS MODEL / PROFIT STRATEGY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RISHI KUMAR NAIDU</cp:lastModifiedBy>
  <cp:revision>159</cp:revision>
  <dcterms:created xsi:type="dcterms:W3CDTF">2013-12-12T18:46:50Z</dcterms:created>
  <dcterms:modified xsi:type="dcterms:W3CDTF">2026-02-25T12:58:37Z</dcterms:modified>
  <cp:category/>
</cp:coreProperties>
</file>